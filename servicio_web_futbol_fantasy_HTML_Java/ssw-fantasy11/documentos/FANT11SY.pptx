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7" r:id="rId8"/>
    <p:sldId id="268" r:id="rId9"/>
    <p:sldId id="269" r:id="rId10"/>
    <p:sldId id="270" r:id="rId11"/>
    <p:sldId id="271" r:id="rId12"/>
    <p:sldId id="259" r:id="rId13"/>
    <p:sldId id="260" r:id="rId14"/>
    <p:sldId id="261" r:id="rId15"/>
    <p:sldId id="262" r:id="rId16"/>
    <p:sldId id="263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AF3A8-EB3A-4CBD-AB8A-7248F53FC19A}" v="574" dt="2026-05-29T10:31:54.279"/>
    <p1510:client id="{9F8819CC-847E-4824-8647-FE06D1543EA0}" v="9" dt="2026-05-29T14:09:03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ngel Antolín" userId="62af8341bbdfd3a6" providerId="LiveId" clId="{C31C5A98-F137-496D-9A57-A6329C36D78E}"/>
    <pc:docChg chg="modSld">
      <pc:chgData name="Ángel Antolín" userId="62af8341bbdfd3a6" providerId="LiveId" clId="{C31C5A98-F137-496D-9A57-A6329C36D78E}" dt="2026-05-29T14:09:03.419" v="10"/>
      <pc:docMkLst>
        <pc:docMk/>
      </pc:docMkLst>
      <pc:sldChg chg="modAnim">
        <pc:chgData name="Ángel Antolín" userId="62af8341bbdfd3a6" providerId="LiveId" clId="{C31C5A98-F137-496D-9A57-A6329C36D78E}" dt="2026-05-29T14:09:03.419" v="10"/>
        <pc:sldMkLst>
          <pc:docMk/>
          <pc:sldMk cId="2971140009" sldId="259"/>
        </pc:sldMkLst>
      </pc:sldChg>
      <pc:sldChg chg="modSp mod modAnim">
        <pc:chgData name="Ángel Antolín" userId="62af8341bbdfd3a6" providerId="LiveId" clId="{C31C5A98-F137-496D-9A57-A6329C36D78E}" dt="2026-05-29T14:08:43.369" v="2"/>
        <pc:sldMkLst>
          <pc:docMk/>
          <pc:sldMk cId="364864578" sldId="265"/>
        </pc:sldMkLst>
        <pc:spChg chg="mod">
          <ac:chgData name="Ángel Antolín" userId="62af8341bbdfd3a6" providerId="LiveId" clId="{C31C5A98-F137-496D-9A57-A6329C36D78E}" dt="2026-05-29T14:08:11.775" v="0" actId="1076"/>
          <ac:spMkLst>
            <pc:docMk/>
            <pc:sldMk cId="364864578" sldId="265"/>
            <ac:spMk id="2" creationId="{B32329FF-A593-D548-55B0-DFDD818E7905}"/>
          </ac:spMkLst>
        </pc:spChg>
        <pc:picChg chg="mod">
          <ac:chgData name="Ángel Antolín" userId="62af8341bbdfd3a6" providerId="LiveId" clId="{C31C5A98-F137-496D-9A57-A6329C36D78E}" dt="2026-05-29T14:08:13.942" v="1" actId="1076"/>
          <ac:picMkLst>
            <pc:docMk/>
            <pc:sldMk cId="364864578" sldId="265"/>
            <ac:picMk id="5" creationId="{8818EE00-04D2-7E06-D914-E4531889CD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565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53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074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59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10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388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56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7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76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51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0625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48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5232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7417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2713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00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36F1-CD82-4AFB-ACC3-F7248D18223D}" type="datetimeFigureOut">
              <a:rPr lang="es-ES" smtClean="0"/>
              <a:t>29/05/2026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F74B43D-AB13-435F-B096-D77D4B8D26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43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ED250-89B7-78DF-446D-8CC5E30A0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FANT11SY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1C061E-1C29-4BA0-162E-3E00907834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Un proyecto de Servicios y Sistemas Web</a:t>
            </a:r>
          </a:p>
        </p:txBody>
      </p:sp>
    </p:spTree>
    <p:extLst>
      <p:ext uri="{BB962C8B-B14F-4D97-AF65-F5344CB8AC3E}">
        <p14:creationId xmlns:p14="http://schemas.microsoft.com/office/powerpoint/2010/main" val="213048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A9260-C1FE-ED9D-142C-441C6E9D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INTEGRANTES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1C01E2-452F-3F6A-A199-976DAA547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Integrantes:</a:t>
            </a:r>
          </a:p>
          <a:p>
            <a:pPr marL="0" indent="0">
              <a:buNone/>
            </a:pPr>
            <a:endParaRPr lang="es-ES" dirty="0"/>
          </a:p>
          <a:p>
            <a:pPr lvl="1"/>
            <a:r>
              <a:rPr lang="es-ES" dirty="0"/>
              <a:t>Marcos Gómez Medina</a:t>
            </a:r>
          </a:p>
          <a:p>
            <a:pPr lvl="1"/>
            <a:r>
              <a:rPr lang="es-ES" dirty="0"/>
              <a:t>Ángel Antolín </a:t>
            </a:r>
            <a:r>
              <a:rPr lang="es-ES" dirty="0" err="1"/>
              <a:t>Caramazana</a:t>
            </a:r>
            <a:r>
              <a:rPr lang="es-ES" dirty="0"/>
              <a:t> </a:t>
            </a:r>
          </a:p>
          <a:p>
            <a:pPr lvl="1"/>
            <a:r>
              <a:rPr lang="es-ES" dirty="0"/>
              <a:t>Jorge Hernández Sánchez</a:t>
            </a:r>
          </a:p>
          <a:p>
            <a:pPr lvl="1"/>
            <a:r>
              <a:rPr lang="es-ES" dirty="0"/>
              <a:t>Luis Antón Sanz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2179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647AF-3528-B153-DE97-4DC39445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668D89-F219-738E-5E25-923679DB1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3920" y="2415013"/>
            <a:ext cx="6904160" cy="2537988"/>
          </a:xfrm>
        </p:spPr>
        <p:txBody>
          <a:bodyPr>
            <a:normAutofit/>
          </a:bodyPr>
          <a:lstStyle/>
          <a:p>
            <a:r>
              <a:rPr lang="es-ES" b="1" dirty="0"/>
              <a:t>Plataforma Interactiva</a:t>
            </a:r>
            <a:r>
              <a:rPr lang="es-ES" dirty="0"/>
              <a:t>: Aplicación web tipo "Fantasy" para competir entre amigos de forma sana.</a:t>
            </a:r>
          </a:p>
          <a:p>
            <a:r>
              <a:rPr lang="es-ES" b="1" dirty="0"/>
              <a:t>Sistema de Puntuación</a:t>
            </a:r>
            <a:r>
              <a:rPr lang="es-ES" dirty="0"/>
              <a:t>: Los puntos se asignan en función del desempeño deportivo real en diferentes disciplinas.</a:t>
            </a:r>
          </a:p>
          <a:p>
            <a:r>
              <a:rPr lang="es-ES" b="1" dirty="0"/>
              <a:t>Determinación del Ganador</a:t>
            </a:r>
            <a:r>
              <a:rPr lang="es-ES" dirty="0"/>
              <a:t>: El torneo lo gana el usuario que acumule más puntos al finalizar la temporada regular.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958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E618C-1502-6DE8-AF8F-6DD460D64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168C8C-9F47-3B00-0253-3996A808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0397" y="3919397"/>
            <a:ext cx="3611716" cy="2576465"/>
          </a:xfrm>
        </p:spPr>
        <p:txBody>
          <a:bodyPr>
            <a:normAutofit/>
          </a:bodyPr>
          <a:lstStyle/>
          <a:p>
            <a:r>
              <a:rPr lang="es-ES" dirty="0"/>
              <a:t>Minutos jugados en el partido: </a:t>
            </a:r>
          </a:p>
          <a:p>
            <a:pPr lvl="1"/>
            <a:r>
              <a:rPr lang="es-ES" dirty="0"/>
              <a:t>Disputar al menos 30 minutos: +1 punto. </a:t>
            </a:r>
          </a:p>
          <a:p>
            <a:pPr lvl="1"/>
            <a:r>
              <a:rPr lang="es-ES" dirty="0"/>
              <a:t>Disputar al menos 60 minutos: +2 puntos.</a:t>
            </a:r>
          </a:p>
          <a:p>
            <a:pPr lvl="1"/>
            <a:r>
              <a:rPr lang="es-ES" dirty="0"/>
              <a:t>Disputar 90 minutos completos: +3 puntos.</a:t>
            </a:r>
            <a:endParaRPr lang="es-ES" b="1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134C398-867C-A120-205B-E3DEEE2D61B7}"/>
              </a:ext>
            </a:extLst>
          </p:cNvPr>
          <p:cNvSpPr txBox="1">
            <a:spLocks/>
          </p:cNvSpPr>
          <p:nvPr/>
        </p:nvSpPr>
        <p:spPr>
          <a:xfrm>
            <a:off x="6867699" y="1904999"/>
            <a:ext cx="4530614" cy="3843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Asistencia de gol: +3 puntos.</a:t>
            </a:r>
          </a:p>
          <a:p>
            <a:r>
              <a:rPr lang="es-ES" dirty="0"/>
              <a:t>Goles en propia: -2 puntos</a:t>
            </a:r>
          </a:p>
          <a:p>
            <a:r>
              <a:rPr lang="es-ES" dirty="0"/>
              <a:t> Goles en contra (aplicable exclusivamente a porteros y defensas): -1 punto por cada 2 goles en contra. </a:t>
            </a:r>
          </a:p>
          <a:p>
            <a:r>
              <a:rPr lang="es-ES" dirty="0"/>
              <a:t>Portería a cero (aplicable exclusivamente a porteros y defensas): +3 puntos.</a:t>
            </a:r>
          </a:p>
          <a:p>
            <a:r>
              <a:rPr lang="es-ES" dirty="0"/>
              <a:t> Tarjeta amarilla: -2 puntos. </a:t>
            </a:r>
          </a:p>
          <a:p>
            <a:r>
              <a:rPr lang="es-ES" dirty="0"/>
              <a:t>Tarjeta roja: -4 puntos.</a:t>
            </a:r>
            <a:endParaRPr lang="es-ES" b="1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8D54716-ABED-68EF-1C27-0C639C3C351B}"/>
              </a:ext>
            </a:extLst>
          </p:cNvPr>
          <p:cNvSpPr txBox="1">
            <a:spLocks/>
          </p:cNvSpPr>
          <p:nvPr/>
        </p:nvSpPr>
        <p:spPr>
          <a:xfrm>
            <a:off x="2745325" y="1569645"/>
            <a:ext cx="3506788" cy="2447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s-ES" b="1" dirty="0"/>
              <a:t>SISTEMA DE PUNTUACIÓN:</a:t>
            </a:r>
          </a:p>
          <a:p>
            <a:r>
              <a:rPr lang="es-ES" dirty="0"/>
              <a:t>Gol anotado: </a:t>
            </a:r>
          </a:p>
          <a:p>
            <a:pPr lvl="1"/>
            <a:r>
              <a:rPr lang="es-ES" dirty="0"/>
              <a:t>Portero o defensa: +6 puntos.</a:t>
            </a:r>
          </a:p>
          <a:p>
            <a:pPr lvl="1"/>
            <a:r>
              <a:rPr lang="es-ES" dirty="0"/>
              <a:t>Mediocentro: +5 puntos. </a:t>
            </a:r>
          </a:p>
          <a:p>
            <a:pPr lvl="1"/>
            <a:r>
              <a:rPr lang="es-ES" dirty="0"/>
              <a:t>Delantero: +4 puntos.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F126454-107F-3679-A595-4B4577E64B13}"/>
              </a:ext>
            </a:extLst>
          </p:cNvPr>
          <p:cNvSpPr txBox="1"/>
          <p:nvPr/>
        </p:nvSpPr>
        <p:spPr>
          <a:xfrm>
            <a:off x="6029608" y="5864558"/>
            <a:ext cx="6005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Además de un sistema de bonificación por química</a:t>
            </a:r>
          </a:p>
        </p:txBody>
      </p:sp>
    </p:spTree>
    <p:extLst>
      <p:ext uri="{BB962C8B-B14F-4D97-AF65-F5344CB8AC3E}">
        <p14:creationId xmlns:p14="http://schemas.microsoft.com/office/powerpoint/2010/main" val="369268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AE2B6-B1F8-A9B2-5D26-EA14224E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s-ES" dirty="0"/>
              <a:t>USUARIOS 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6368FE-F793-32DB-7B55-99121AEE8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25362"/>
            <a:ext cx="5835121" cy="3785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Fant11sy está dirigida a aficionados al fútbol internacional que buscan una competición sana y divertida entre amigos. </a:t>
            </a:r>
          </a:p>
          <a:p>
            <a:pPr marL="0" indent="0">
              <a:buNone/>
            </a:pPr>
            <a:r>
              <a:rPr lang="es-ES" dirty="0"/>
              <a:t>El sistema destaca por ser intuitivo y de fácil manejo, eliminando la complejidad excesiva de los mercados tradicionales.</a:t>
            </a:r>
          </a:p>
        </p:txBody>
      </p:sp>
      <p:pic>
        <p:nvPicPr>
          <p:cNvPr id="2050" name="Picture 2" descr="Icono de persona de usuario naranja">
            <a:extLst>
              <a:ext uri="{FF2B5EF4-FFF2-40B4-BE49-F238E27FC236}">
                <a16:creationId xmlns:a16="http://schemas.microsoft.com/office/drawing/2014/main" id="{B71D4A3E-CCCE-7359-0E0C-D24A63FE8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31452" y="2561913"/>
            <a:ext cx="2873159" cy="287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3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3E7AE-7005-098C-F22D-E44087D2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ESPECIFICACION DE 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FC97F0-D105-9FA9-B90A-4F24595CF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40040"/>
          </a:xfrm>
        </p:spPr>
        <p:txBody>
          <a:bodyPr/>
          <a:lstStyle/>
          <a:p>
            <a:r>
              <a:rPr lang="es-ES" b="1" dirty="0"/>
              <a:t>RF-1:</a:t>
            </a:r>
            <a:r>
              <a:rPr lang="es-ES" dirty="0"/>
              <a:t> Inicio de sesión mediante proceso de </a:t>
            </a:r>
            <a:r>
              <a:rPr lang="es-ES" dirty="0" err="1"/>
              <a:t>login</a:t>
            </a:r>
            <a:endParaRPr lang="es-ES" dirty="0"/>
          </a:p>
          <a:p>
            <a:r>
              <a:rPr lang="es-ES" b="1" dirty="0"/>
              <a:t>RF-2:</a:t>
            </a:r>
            <a:r>
              <a:rPr lang="es-ES" dirty="0"/>
              <a:t> Gestión y selección de alineaciones</a:t>
            </a:r>
          </a:p>
          <a:p>
            <a:r>
              <a:rPr lang="es-ES" b="1" dirty="0"/>
              <a:t>RF-3:</a:t>
            </a:r>
            <a:r>
              <a:rPr lang="es-ES" dirty="0"/>
              <a:t> Restricción estricta de plantilla completa</a:t>
            </a:r>
          </a:p>
          <a:p>
            <a:r>
              <a:rPr lang="es-ES" b="1" dirty="0"/>
              <a:t>RF-4:</a:t>
            </a:r>
            <a:r>
              <a:rPr lang="es-ES" dirty="0"/>
              <a:t> Simulación de jornadas a partir de datos reales (API)</a:t>
            </a:r>
          </a:p>
          <a:p>
            <a:r>
              <a:rPr lang="es-ES" b="1" dirty="0"/>
              <a:t>RF-5:</a:t>
            </a:r>
            <a:r>
              <a:rPr lang="es-ES" dirty="0"/>
              <a:t> Consulta de clasificaciones</a:t>
            </a:r>
          </a:p>
          <a:p>
            <a:r>
              <a:rPr lang="es-ES" b="1" dirty="0"/>
              <a:t>RF-6:</a:t>
            </a:r>
            <a:r>
              <a:rPr lang="es-ES" dirty="0"/>
              <a:t> Desglose de bonificaciones informativas</a:t>
            </a:r>
          </a:p>
          <a:p>
            <a:r>
              <a:rPr lang="es-ES" b="1" dirty="0"/>
              <a:t>RF-7:</a:t>
            </a:r>
            <a:r>
              <a:rPr lang="es-ES" dirty="0"/>
              <a:t> Visualización de alineaciones rivales</a:t>
            </a:r>
          </a:p>
          <a:p>
            <a:r>
              <a:rPr lang="es-ES" b="1" dirty="0"/>
              <a:t>RF-8:</a:t>
            </a:r>
            <a:r>
              <a:rPr lang="es-ES" dirty="0"/>
              <a:t> Registro de nuevos usuarios</a:t>
            </a:r>
          </a:p>
          <a:p>
            <a:r>
              <a:rPr lang="es-ES" b="1" dirty="0"/>
              <a:t>RF-9:</a:t>
            </a:r>
            <a:r>
              <a:rPr lang="es-ES" dirty="0"/>
              <a:t> Consulta de calendario</a:t>
            </a:r>
          </a:p>
          <a:p>
            <a:r>
              <a:rPr lang="es-ES" b="1" dirty="0"/>
              <a:t>RF-10:</a:t>
            </a:r>
            <a:r>
              <a:rPr lang="es-ES" dirty="0"/>
              <a:t> Consulta de clubes</a:t>
            </a:r>
          </a:p>
        </p:txBody>
      </p:sp>
    </p:spTree>
    <p:extLst>
      <p:ext uri="{BB962C8B-B14F-4D97-AF65-F5344CB8AC3E}">
        <p14:creationId xmlns:p14="http://schemas.microsoft.com/office/powerpoint/2010/main" val="319294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B59F5-01E1-CA37-7E06-71F6A134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DOMINIO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9A4BC6A-9D07-B690-AEBB-B697D2B47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" t="-507" r="-1903" b="-2442"/>
          <a:stretch>
            <a:fillRect/>
          </a:stretch>
        </p:blipFill>
        <p:spPr>
          <a:xfrm>
            <a:off x="3379344" y="1463176"/>
            <a:ext cx="6416505" cy="4915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1470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D5FD8-5BDE-7162-66E1-95C20CE69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MAPA DEL SITIO WEB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6C5C661-DE8D-25F8-FBA6-DBCAF5814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309" y="2019300"/>
            <a:ext cx="5912407" cy="3778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155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5C853-1FFB-9811-05EA-CED8A1CE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DE LA BASE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0E683-9876-0CE7-084B-790658684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Utilizacion</a:t>
            </a:r>
            <a:r>
              <a:rPr lang="es-ES" dirty="0"/>
              <a:t> de </a:t>
            </a:r>
            <a:r>
              <a:rPr lang="es-ES" dirty="0" err="1"/>
              <a:t>MariaDB</a:t>
            </a:r>
            <a:r>
              <a:rPr lang="es-ES" dirty="0"/>
              <a:t>: se usan scripts </a:t>
            </a:r>
            <a:r>
              <a:rPr lang="es-ES" dirty="0" err="1"/>
              <a:t>pra</a:t>
            </a:r>
            <a:r>
              <a:rPr lang="es-ES" dirty="0"/>
              <a:t> la </a:t>
            </a:r>
            <a:r>
              <a:rPr lang="es-ES" dirty="0" err="1"/>
              <a:t>definción</a:t>
            </a:r>
            <a:r>
              <a:rPr lang="es-ES" dirty="0"/>
              <a:t> de tablas, restricciones de integridad y claves foráneas.</a:t>
            </a:r>
          </a:p>
          <a:p>
            <a:pPr marL="0" indent="0">
              <a:buNone/>
            </a:pPr>
            <a:r>
              <a:rPr lang="es-ES" dirty="0"/>
              <a:t>Orden de ejecución de los scripts: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/>
              <a:t>1. fantasy11.sql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/>
              <a:t>2. </a:t>
            </a:r>
            <a:r>
              <a:rPr lang="es-ES" dirty="0" err="1"/>
              <a:t>pruebaUsuarios.sql</a:t>
            </a:r>
            <a:endParaRPr lang="es-ES" dirty="0"/>
          </a:p>
          <a:p>
            <a:pPr marL="800100" lvl="1" indent="-342900">
              <a:buFont typeface="+mj-lt"/>
              <a:buAutoNum type="arabicPeriod"/>
            </a:pPr>
            <a:r>
              <a:rPr lang="es-ES" dirty="0"/>
              <a:t>3. Iniciar el proyecto y </a:t>
            </a:r>
            <a:r>
              <a:rPr lang="es-ES" dirty="0" err="1"/>
              <a:t>añnadir</a:t>
            </a:r>
            <a:r>
              <a:rPr lang="es-ES" dirty="0"/>
              <a:t> /cargar-api a la URL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/>
              <a:t>4. </a:t>
            </a:r>
            <a:r>
              <a:rPr lang="es-ES" dirty="0" err="1"/>
              <a:t>partidosPrueba.sql</a:t>
            </a:r>
            <a:endParaRPr lang="es-ES" dirty="0"/>
          </a:p>
          <a:p>
            <a:pPr marL="800100" lvl="1" indent="-342900">
              <a:buFont typeface="+mj-lt"/>
              <a:buAutoNum type="arabicPeriod"/>
            </a:pPr>
            <a:r>
              <a:rPr lang="es-ES" dirty="0"/>
              <a:t>5. </a:t>
            </a:r>
            <a:r>
              <a:rPr lang="es-ES" dirty="0" err="1"/>
              <a:t>simulaPuntuaciones.sql</a:t>
            </a:r>
            <a:endParaRPr lang="es-ES" dirty="0"/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Añnadir</a:t>
            </a:r>
            <a:r>
              <a:rPr lang="es-ES" dirty="0"/>
              <a:t> /</a:t>
            </a:r>
            <a:r>
              <a:rPr lang="es-ES" dirty="0" err="1"/>
              <a:t>ActualizarJornadaServlet</a:t>
            </a:r>
            <a:r>
              <a:rPr lang="es-ES" dirty="0"/>
              <a:t> a la URL</a:t>
            </a:r>
          </a:p>
        </p:txBody>
      </p:sp>
    </p:spTree>
    <p:extLst>
      <p:ext uri="{BB962C8B-B14F-4D97-AF65-F5344CB8AC3E}">
        <p14:creationId xmlns:p14="http://schemas.microsoft.com/office/powerpoint/2010/main" val="297114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C6007-D817-BD79-501B-D959B5D4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DE LA BASE DE 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7CCFF66-A650-240B-117A-DDA688E56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5" t="2105" r="15509" b="2001"/>
          <a:stretch>
            <a:fillRect/>
          </a:stretch>
        </p:blipFill>
        <p:spPr>
          <a:xfrm>
            <a:off x="2592925" y="2134424"/>
            <a:ext cx="7970300" cy="3485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1270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1D29C-8AA0-49CD-98EA-CE0897B6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Funcionalidad Implementada y 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6A01C4-808F-5634-C4BC-AC8128821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251294"/>
            <a:ext cx="8915400" cy="3982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FUNCIONALIDAD BÁSICA:</a:t>
            </a:r>
          </a:p>
          <a:p>
            <a:r>
              <a:rPr lang="es-ES" dirty="0"/>
              <a:t>Un usuario puede registrarse e iniciar sesión en la aplicación.</a:t>
            </a:r>
          </a:p>
          <a:p>
            <a:r>
              <a:rPr lang="es-ES" dirty="0"/>
              <a:t>Se le asignará un equipo y se unirá a la liga.</a:t>
            </a:r>
          </a:p>
          <a:p>
            <a:r>
              <a:rPr lang="es-ES" dirty="0"/>
              <a:t>Sistema sin mercado (simplificado).</a:t>
            </a:r>
          </a:p>
          <a:p>
            <a:r>
              <a:rPr lang="es-ES" dirty="0"/>
              <a:t>Poder montar un equipo de 11 jugadores (maximizar puntuación).</a:t>
            </a:r>
          </a:p>
          <a:p>
            <a:r>
              <a:rPr lang="es-ES" dirty="0"/>
              <a:t>Cada jornada actualiza los puntos de los jugadores (actualiza clasificación global y por jornadas).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b="1" dirty="0"/>
              <a:t>FUNCIONALIDAD DE LA API:</a:t>
            </a:r>
          </a:p>
          <a:p>
            <a:pPr marL="0" indent="0">
              <a:buNone/>
            </a:pPr>
            <a:r>
              <a:rPr lang="es-ES" dirty="0"/>
              <a:t>Se ha implementado la API completamente. Jugadores, equipos y actuaciones.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6114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B7150-35BC-B4C2-9FDC-A71C43B5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Funcionalidad Implementada y 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030DC3-9F7D-7996-975A-D932ED947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Arquitectura basada en el Patrón Modelo-Vista-Controlador (MVC) </a:t>
            </a:r>
          </a:p>
          <a:p>
            <a:pPr marL="0" indent="0">
              <a:buNone/>
            </a:pPr>
            <a:endParaRPr lang="es-ES" b="1" dirty="0"/>
          </a:p>
          <a:p>
            <a:r>
              <a:rPr lang="es-ES" b="1" dirty="0"/>
              <a:t>Modelo</a:t>
            </a:r>
            <a:r>
              <a:rPr lang="es-ES" dirty="0"/>
              <a:t>: Clases </a:t>
            </a:r>
            <a:r>
              <a:rPr lang="es-ES" b="1" dirty="0"/>
              <a:t>JavaBean</a:t>
            </a:r>
            <a:r>
              <a:rPr lang="es-ES" dirty="0"/>
              <a:t> puras y </a:t>
            </a:r>
            <a:r>
              <a:rPr lang="es-ES" b="1" dirty="0"/>
              <a:t>patrón DAO</a:t>
            </a:r>
            <a:r>
              <a:rPr lang="es-ES" dirty="0"/>
              <a:t> para la persistencia.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b="1" dirty="0"/>
              <a:t>Controlador</a:t>
            </a:r>
            <a:r>
              <a:rPr lang="es-ES" dirty="0"/>
              <a:t>: Implementado con </a:t>
            </a:r>
            <a:r>
              <a:rPr lang="es-ES" b="1" dirty="0" err="1"/>
              <a:t>Servlets</a:t>
            </a:r>
            <a:r>
              <a:rPr lang="es-ES" dirty="0"/>
              <a:t>. 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b="1" dirty="0"/>
              <a:t>Vista</a:t>
            </a:r>
            <a:r>
              <a:rPr lang="es-ES" dirty="0"/>
              <a:t>: Páginas dinámicas </a:t>
            </a:r>
            <a:r>
              <a:rPr lang="es-ES" b="1" dirty="0"/>
              <a:t>JSP</a:t>
            </a:r>
            <a:r>
              <a:rPr lang="es-ES" dirty="0"/>
              <a:t> con estilos </a:t>
            </a:r>
            <a:r>
              <a:rPr lang="es-ES" b="1" dirty="0"/>
              <a:t>CSS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40714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28958-EAB5-39AA-78C3-9DB04B8A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la Funcionalidad Implementada y 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EDE5D0-C58A-8353-0DEC-09F13FE06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00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Consumo Unificado de Datos Reales mediante API Externa</a:t>
            </a:r>
          </a:p>
          <a:p>
            <a:pPr marL="0" indent="0">
              <a:buNone/>
            </a:pPr>
            <a:r>
              <a:rPr lang="es-ES" dirty="0"/>
              <a:t>La API de </a:t>
            </a:r>
            <a:r>
              <a:rPr lang="es-ES" dirty="0" err="1"/>
              <a:t>Sportmonks</a:t>
            </a:r>
            <a:r>
              <a:rPr lang="es-ES" dirty="0"/>
              <a:t> representó un pilar del proyecto. </a:t>
            </a:r>
          </a:p>
          <a:p>
            <a:pPr marL="0" indent="0">
              <a:buNone/>
            </a:pPr>
            <a:r>
              <a:rPr lang="es-ES" dirty="0"/>
              <a:t>3 clases:</a:t>
            </a:r>
          </a:p>
          <a:p>
            <a:r>
              <a:rPr lang="es-ES" b="1" dirty="0"/>
              <a:t>ActualizarResultadosAPI.java: </a:t>
            </a:r>
            <a:r>
              <a:rPr lang="es-ES" dirty="0"/>
              <a:t>Recoge los resultados de los partidos y las actuaciones de los jugadores en la fecha indicada.</a:t>
            </a:r>
          </a:p>
          <a:p>
            <a:r>
              <a:rPr lang="es-ES" dirty="0"/>
              <a:t> </a:t>
            </a:r>
            <a:r>
              <a:rPr lang="es-ES" b="1" dirty="0"/>
              <a:t>CargarEquipos.java: </a:t>
            </a:r>
            <a:r>
              <a:rPr lang="es-ES" dirty="0"/>
              <a:t>Obtiene la información de todos los clubes y jugadores de la liga. </a:t>
            </a:r>
          </a:p>
          <a:p>
            <a:r>
              <a:rPr lang="es-ES" b="1" dirty="0"/>
              <a:t>CargarPartidosAPI.java: </a:t>
            </a:r>
            <a:r>
              <a:rPr lang="es-ES" dirty="0"/>
              <a:t>Realiza la carga inicial de partidos rellenando todas las jornadas con partidos que serán jugados a lo largo de la liga.</a:t>
            </a:r>
          </a:p>
          <a:p>
            <a:pPr marL="0" indent="0">
              <a:buNone/>
            </a:pP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429523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329FF-A593-D548-55B0-DFDD818E7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480" y="581910"/>
            <a:ext cx="8911687" cy="1280890"/>
          </a:xfrm>
        </p:spPr>
        <p:txBody>
          <a:bodyPr/>
          <a:lstStyle/>
          <a:p>
            <a:pPr algn="ctr"/>
            <a:r>
              <a:rPr lang="es-ES" dirty="0"/>
              <a:t>FIN DE LA PRESENTACIÓN</a:t>
            </a:r>
            <a:br>
              <a:rPr lang="es-ES" dirty="0"/>
            </a:br>
            <a:r>
              <a:rPr lang="es-ES" dirty="0"/>
              <a:t>GRACIAS POR SU ATENCIÓN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18EE00-04D2-7E06-D914-E4531889C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351" y="2136010"/>
            <a:ext cx="5337944" cy="3558629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6486457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552588701ADB47A5A79D3E8F5EBF74" ma:contentTypeVersion="6" ma:contentTypeDescription="Crear nuevo documento." ma:contentTypeScope="" ma:versionID="46681e4dabb7afdc34d3f96f215624a8">
  <xsd:schema xmlns:xsd="http://www.w3.org/2001/XMLSchema" xmlns:xs="http://www.w3.org/2001/XMLSchema" xmlns:p="http://schemas.microsoft.com/office/2006/metadata/properties" xmlns:ns3="797e50c4-ff5c-438d-9a98-ef7cdeddad0f" targetNamespace="http://schemas.microsoft.com/office/2006/metadata/properties" ma:root="true" ma:fieldsID="313c45854e3832477fdff1ddda265967" ns3:_="">
    <xsd:import namespace="797e50c4-ff5c-438d-9a98-ef7cdeddad0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7e50c4-ff5c-438d-9a98-ef7cdeddad0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97e50c4-ff5c-438d-9a98-ef7cdeddad0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C7B1B8-9C90-4BE2-A2C7-C7B3C1BB98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7e50c4-ff5c-438d-9a98-ef7cdeddad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4B03DD-BB98-415D-BDC2-C7FB532946A3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797e50c4-ff5c-438d-9a98-ef7cdeddad0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5EC02E6-FA41-4EEA-ACCB-F8994ABC1E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TM02892315[[fn=Espiral]]</Template>
  <TotalTime>210</TotalTime>
  <Words>649</Words>
  <Application>Microsoft Office PowerPoint</Application>
  <PresentationFormat>Panorámica</PresentationFormat>
  <Paragraphs>82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Espiral</vt:lpstr>
      <vt:lpstr>FANT11SY</vt:lpstr>
      <vt:lpstr>1. INTEGRANTES</vt:lpstr>
      <vt:lpstr>2. INTRODUCCIÓN</vt:lpstr>
      <vt:lpstr>2. INTRODUCCIÓN</vt:lpstr>
      <vt:lpstr>USUARIOS OBJETIVO</vt:lpstr>
      <vt:lpstr>ESPECIFICACION DE REQUISITOS</vt:lpstr>
      <vt:lpstr>MODELO DE DOMINIO </vt:lpstr>
      <vt:lpstr>MAPA DEL SITIO WEB</vt:lpstr>
      <vt:lpstr>ESTRUCTURA DE LA BASE DE DATOS</vt:lpstr>
      <vt:lpstr>ESTRUCTURA DE LA BASE DE DATOS</vt:lpstr>
      <vt:lpstr>Descripción de la Funcionalidad Implementada y Justificación</vt:lpstr>
      <vt:lpstr>Descripción de la Funcionalidad Implementada y Justificación</vt:lpstr>
      <vt:lpstr>Descripción de la Funcionalidad Implementada y Justificación</vt:lpstr>
      <vt:lpstr>FIN DE LA PRESENTACIÓN 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ANTON SANZ</dc:creator>
  <cp:lastModifiedBy>Ángel Antolín</cp:lastModifiedBy>
  <cp:revision>3</cp:revision>
  <dcterms:created xsi:type="dcterms:W3CDTF">2026-05-28T15:26:24Z</dcterms:created>
  <dcterms:modified xsi:type="dcterms:W3CDTF">2026-05-29T14:09:11Z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0x010100F4552588701ADB47A5A79D3E8F5EBF74</vt:lpwstr>
  </property>
</Properties>
</file>